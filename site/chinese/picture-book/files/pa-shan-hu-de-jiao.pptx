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notesSlides/notesSlide1.xml" Type="http://schemas.openxmlformats.org/officeDocument/2006/relationships/notesSlide"/><Relationship Id="rId18" Target="notesSlides/notesSlide2.xml" Type="http://schemas.openxmlformats.org/officeDocument/2006/relationships/notesSlide"/><Relationship Id="rId19" Target="notesSlides/notesSlide3.xml" Type="http://schemas.openxmlformats.org/officeDocument/2006/relationships/notesSlide"/><Relationship Id="rId2" Target="viewProps.xml" Type="http://schemas.openxmlformats.org/officeDocument/2006/relationships/viewProps"/><Relationship Id="rId20" Target="notesSlides/notesSlide4.xml" Type="http://schemas.openxmlformats.org/officeDocument/2006/relationships/notesSlide"/><Relationship Id="rId21" Target="notesSlides/notesSlide5.xml" Type="http://schemas.openxmlformats.org/officeDocument/2006/relationships/notesSlide"/><Relationship Id="rId22" Target="notesSlides/notesSlide6.xml" Type="http://schemas.openxmlformats.org/officeDocument/2006/relationships/notesSlide"/><Relationship Id="rId23" Target="notesSlides/notesSlide7.xml" Type="http://schemas.openxmlformats.org/officeDocument/2006/relationships/notesSlide"/><Relationship Id="rId24" Target="notesSlides/notesSlide8.xml" Type="http://schemas.openxmlformats.org/officeDocument/2006/relationships/notesSlide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同学们，你们见过这种植物吗？它没有脚，却能从地面一直爬到几十米高的楼顶；它没有手，却能紧紧贴在墙上，大风都吹不掉。它就是——爬山虎。今天我们跟着叶圣陶爷爷，一起去观察：爬山虎的"脚"到底长什么样？它又是怎么一步一步爬上高墙的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同学们看，这就是叶圣陶爷爷。他是现代著名的作家和教育家。他最了不起的地方，不是写了多么惊天动地的故事，而是能把大家都看腻了的小东西——比如爬山虎——观察得仔仔细细。我们今天学这篇课文，也要学他这种"蹲下来看世界"的本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同学们看这张图——爬山虎的叶子是有变化的：刚长出来的时候是嫩红色的、小小的；长大以后变成嫩绿色，形状像手掌，而且全部"一顺儿朝下"铺在墙上。为什么要"一顺儿朝下"？因为这样每片叶子都能晒到太阳，不互相遮挡。一阵风吹过，整面墙的叶子就像水波一样荡漾起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同学们看这张放大图——爬山虎的脚不是真的像动物的脚，它是从茎上长出来的六七根细丝，样子像蜗牛的触角，颜色嫩红。最关键的是：每根细丝的顶端都有一个小小的圆片，这个圆片会分泌黏液，紧紧地贴在墙上。这就是它能爬墙的秘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同学们看这张三连图——爬山虎爬墙分三步：第一步，细丝顶端的小圆片紧紧巴住墙；第二步，细丝微微弯曲，把嫩茎往上拉一把；第三步，整株植物就紧贴在墙上了。然后重复这个过程，一步一步往上爬。你看，植物是不是也像在做运动？一拉、一贴、一爬，非常有节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同学们看这张图——爬山虎的脚有两种命运：触着墙的，会变成灰色，紧紧贴在墙上，哪怕大风也吹不掉；没触着墙的，几天就萎了，干枯、卷起来，最后连痕迹都没了。叶圣陶爷爷观察得有多细？他连这种"没触着墙的脚会枯萎"都注意到了。这就是真正的观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同学们，学完这篇课文，我们要从爬山虎身上学到三件事：第一，观察要细，连茎上有几根细丝都要数清楚；第二，观察要有顺序，从叶子到脚，再到它怎么爬；第三，观察要持续，没触着墙的脚会枯萎，这不是一眼能看出来的，要等几天。这就是叶圣陶爷爷教给我们的写作方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同学们，今天的课就到这里。课后作业：第一，熟读并背诵课文；第二，找一找你身边的爬山虎——小区的墙、学校的围墙、公园的假山都可能有——用今天学的方法，写一段观察日记。记住观察三步：先看整体，再看局部，最后看变化。下节课我们一起分享你的观察日记。下课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png" Type="http://schemas.openxmlformats.org/officeDocument/2006/relationships/image"/><Relationship Id="rId3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png" Type="http://schemas.openxmlformats.org/officeDocument/2006/relationships/image"/><Relationship Id="rId3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.png" Type="http://schemas.openxmlformats.org/officeDocument/2006/relationships/image"/><Relationship Id="rId3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6.png" Type="http://schemas.openxmlformats.org/officeDocument/2006/relationships/image"/><Relationship Id="rId3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7.png" Type="http://schemas.openxmlformats.org/officeDocument/2006/relationships/image"/><Relationship Id="rId3" Target="../notesSlides/notesSlide8.xml" Type="http://schemas.openxmlformats.org/officeDocument/2006/relationships/notesSlide"/><Relationship Id="rId4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12" b="12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762000" y="1016000"/>
            <a:ext cx="5588000" cy="2794000"/>
          </a:xfrm>
          <a:prstGeom prst="roundRect">
            <a:avLst>
              <a:gd name="adj" fmla="val 10909"/>
            </a:avLst>
          </a:prstGeom>
          <a:solidFill>
            <a:srgbClr val="FFFDF7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143000" y="1397000"/>
            <a:ext cx="4826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5600">
                <a:solidFill>
                  <a:srgbClr val="2B2B2B"/>
                </a:solidFill>
                <a:latin typeface="Long Cang"/>
                <a:ea typeface="Long Cang"/>
                <a:cs typeface="Long Cang"/>
                <a:sym typeface="Long Cang"/>
              </a:rPr>
              <a:t>爬山虎的脚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168400" y="26670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200">
                <a:solidFill>
                  <a:srgbClr val="4A8B8B"/>
                </a:solidFill>
                <a:latin typeface="975Maru SC"/>
                <a:ea typeface="975Maru SC"/>
                <a:cs typeface="975Maru SC"/>
                <a:sym typeface="975Maru SC"/>
              </a:rPr>
              <a:t>叶圣陶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23227" flipH="false" flipV="false">
            <a:off x="1168421" y="3295650"/>
            <a:ext cx="187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4A8B8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7" id="7"/>
          <p:cNvSpPr txBox="true"/>
          <p:nvPr/>
        </p:nvSpPr>
        <p:spPr>
          <a:xfrm rot="0" flipH="false" flipV="false">
            <a:off x="1168400" y="34036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A5A5A"/>
                </a:solidFill>
                <a:latin typeface="975Maru SC"/>
                <a:ea typeface="975Maru SC"/>
                <a:cs typeface="975Maru SC"/>
                <a:sym typeface="975Maru SC"/>
              </a:rPr>
              <a:t>小学语文 · 四年级上册 · 观察短文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77800" cy="6858000"/>
          </a:xfrm>
          <a:prstGeom prst="roundRect">
            <a:avLst>
              <a:gd name="adj" fmla="val 0"/>
            </a:avLst>
          </a:prstGeom>
          <a:solidFill>
            <a:srgbClr val="4A8B8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762000" y="6350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A8B8B"/>
                </a:solidFill>
                <a:latin typeface="975Maru SC"/>
                <a:ea typeface="975Maru SC"/>
                <a:cs typeface="975Maru SC"/>
                <a:sym typeface="975Maru SC"/>
              </a:rPr>
              <a:t>第一步 · 认识作者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762000" y="1016000"/>
            <a:ext cx="762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800">
                <a:solidFill>
                  <a:srgbClr val="2B2B2B"/>
                </a:solidFill>
                <a:latin typeface="Long Cang"/>
                <a:ea typeface="Long Cang"/>
                <a:cs typeface="Long Cang"/>
                <a:sym typeface="Long Cang"/>
              </a:rPr>
              <a:t>他是叶圣陶，"观察大师"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rcRect l="0" r="0" t="499" b="499"/>
          <a:stretch>
            <a:fillRect/>
          </a:stretch>
        </p:blipFill>
        <p:spPr>
          <a:xfrm rot="0" flipH="false" flipV="false">
            <a:off x="762000" y="1905000"/>
            <a:ext cx="3556000" cy="4699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 txBox="true"/>
          <p:nvPr/>
        </p:nvSpPr>
        <p:spPr>
          <a:xfrm rot="0" flipH="false" flipV="false">
            <a:off x="4826000" y="2032000"/>
            <a:ext cx="6604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A8B8B"/>
                </a:solidFill>
                <a:latin typeface="975Maru SC"/>
                <a:ea typeface="975Maru SC"/>
                <a:cs typeface="975Maru SC"/>
                <a:sym typeface="975Maru SC"/>
              </a:rPr>
              <a:t>叶圣陶（1894—1988） · 现代著名作家、教育家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28647" flipH="false" flipV="false">
            <a:off x="4826026" y="26352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4A8B8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8" id="8"/>
          <p:cNvSpPr txBox="true"/>
          <p:nvPr/>
        </p:nvSpPr>
        <p:spPr>
          <a:xfrm rot="0" flipH="false" flipV="false">
            <a:off x="4826000" y="2857500"/>
            <a:ext cx="6604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他最厉害的本领，就是</a:t>
            </a:r>
            <a:r>
              <a:rPr lang="en-US" b="tru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仔细观察身边的小事物</a:t>
            </a: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。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别人都看腻了的爬山虎，他蹲在墙根看了几天几夜，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连它"脚"上有几根细丝都数得清清楚楚。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826000" y="4699000"/>
            <a:ext cx="6604000" cy="1778000"/>
          </a:xfrm>
          <a:prstGeom prst="roundRect">
            <a:avLst>
              <a:gd name="adj" fmla="val 12857"/>
            </a:avLst>
          </a:prstGeom>
          <a:solidFill>
            <a:srgbClr val="DCF0EB">
              <a:alpha val="90000"/>
            </a:srgbClr>
          </a:solidFill>
          <a:ln w="12700" cmpd="sng" cap="flat">
            <a:solidFill>
              <a:srgbClr val="4A8B8B">
                <a:alpha val="100000"/>
              </a:srgbClr>
            </a:solidFill>
            <a:prstDash val="dot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5143500" y="4927600"/>
            <a:ext cx="5969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600">
                <a:solidFill>
                  <a:srgbClr val="285050"/>
                </a:solidFill>
                <a:latin typeface="975Maru SC"/>
                <a:ea typeface="975Maru SC"/>
                <a:cs typeface="975Maru SC"/>
                <a:sym typeface="975Maru SC"/>
              </a:rPr>
              <a:t>我们要学他什么：</a:t>
            </a:r>
            <a:r>
              <a:rPr lang="en-US" b="false" i="false" strike="noStrike" u="none" sz="1600">
                <a:solidFill>
                  <a:srgbClr val="285050"/>
                </a:solidFill>
                <a:latin typeface="975Maru SC"/>
                <a:ea typeface="975Maru SC"/>
                <a:cs typeface="975Maru SC"/>
                <a:sym typeface="975Maru SC"/>
              </a:rPr>
              <a:t/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600">
                <a:solidFill>
                  <a:srgbClr val="285050"/>
                </a:solidFill>
                <a:latin typeface="975Maru SC"/>
                <a:ea typeface="975Maru SC"/>
                <a:cs typeface="975Maru SC"/>
                <a:sym typeface="975Maru SC"/>
              </a:rPr>
              <a:t>不是写大事情，而是</a:t>
            </a:r>
            <a:r>
              <a:rPr lang="en-US" b="true" i="false" strike="noStrike" u="none" sz="1600">
                <a:solidFill>
                  <a:srgbClr val="285050"/>
                </a:solidFill>
                <a:latin typeface="975Maru SC"/>
                <a:ea typeface="975Maru SC"/>
                <a:cs typeface="975Maru SC"/>
                <a:sym typeface="975Maru SC"/>
              </a:rPr>
              <a:t>把一件小东西看仔细、写清楚</a:t>
            </a:r>
            <a:r>
              <a:rPr lang="en-US" b="false" i="false" strike="noStrike" u="none" sz="1600">
                <a:solidFill>
                  <a:srgbClr val="285050"/>
                </a:solidFill>
                <a:latin typeface="975Maru SC"/>
                <a:ea typeface="975Maru SC"/>
                <a:cs typeface="975Maru SC"/>
                <a:sym typeface="975Maru SC"/>
              </a:rPr>
              <a:t>。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12" b="12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762000" y="762000"/>
            <a:ext cx="6350000" cy="1651000"/>
          </a:xfrm>
          <a:prstGeom prst="roundRect">
            <a:avLst>
              <a:gd name="adj" fmla="val 15384"/>
            </a:avLst>
          </a:prstGeom>
          <a:solidFill>
            <a:srgbClr val="FFFDF7">
              <a:alpha val="94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079500" y="990600"/>
            <a:ext cx="571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A8B8B"/>
                </a:solidFill>
                <a:latin typeface="975Maru SC"/>
                <a:ea typeface="975Maru SC"/>
                <a:cs typeface="975Maru SC"/>
                <a:sym typeface="975Maru SC"/>
              </a:rPr>
              <a:t>第二步 · 先看叶子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079500" y="1371600"/>
            <a:ext cx="5715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叶子是怎么长大的？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4826000"/>
            <a:ext cx="7112000" cy="1651000"/>
          </a:xfrm>
          <a:prstGeom prst="roundRect">
            <a:avLst>
              <a:gd name="adj" fmla="val 15384"/>
            </a:avLst>
          </a:prstGeom>
          <a:solidFill>
            <a:srgbClr val="FFFDF7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079500" y="5016500"/>
            <a:ext cx="6477000" cy="1333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600">
                <a:solidFill>
                  <a:srgbClr val="C85050"/>
                </a:solidFill>
                <a:latin typeface="975Maru SC"/>
                <a:ea typeface="975Maru SC"/>
                <a:cs typeface="975Maru SC"/>
                <a:sym typeface="975Maru SC"/>
              </a:rPr>
              <a:t>刚长出来</a:t>
            </a: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：嫩红色，小小的。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600">
                <a:solidFill>
                  <a:srgbClr val="4A8B8B"/>
                </a:solidFill>
                <a:latin typeface="975Maru SC"/>
                <a:ea typeface="975Maru SC"/>
                <a:cs typeface="975Maru SC"/>
                <a:sym typeface="975Maru SC"/>
              </a:rPr>
              <a:t>长大了</a:t>
            </a: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：嫩绿色，掌形，一顺儿朝下铺在墙上。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一阵风拂过，一墙的叶子就漾起波纹，好看得很。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12" b="12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4318000" y="635000"/>
            <a:ext cx="7112000" cy="1651000"/>
          </a:xfrm>
          <a:prstGeom prst="roundRect">
            <a:avLst>
              <a:gd name="adj" fmla="val 15384"/>
            </a:avLst>
          </a:prstGeom>
          <a:solidFill>
            <a:srgbClr val="FFFDF7">
              <a:alpha val="94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4635500" y="863600"/>
            <a:ext cx="647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C85050"/>
                </a:solidFill>
                <a:latin typeface="975Maru SC"/>
                <a:ea typeface="975Maru SC"/>
                <a:cs typeface="975Maru SC"/>
                <a:sym typeface="975Maru SC"/>
              </a:rPr>
              <a:t>第三步 · 重点观察"脚"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4635500" y="1244600"/>
            <a:ext cx="6477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爬山虎的脚长什么样？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4699000"/>
            <a:ext cx="7112000" cy="1778000"/>
          </a:xfrm>
          <a:prstGeom prst="roundRect">
            <a:avLst>
              <a:gd name="adj" fmla="val 14285"/>
            </a:avLst>
          </a:prstGeom>
          <a:solidFill>
            <a:srgbClr val="FFFDF7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079500" y="4927600"/>
            <a:ext cx="6477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爬山虎的脚长在</a:t>
            </a:r>
            <a:r>
              <a:rPr lang="en-US" b="tru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茎上</a:t>
            </a: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。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茎上长叶柄的地方，反面伸出</a:t>
            </a:r>
            <a:r>
              <a:rPr lang="en-US" b="tru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六七根细丝</a:t>
            </a: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，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每根细丝像</a:t>
            </a:r>
            <a:r>
              <a:rPr lang="en-US" b="tru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蜗牛的触角</a:t>
            </a: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，嫩红色。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细丝的顶端有一个</a:t>
            </a:r>
            <a:r>
              <a:rPr lang="en-US" b="tru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小圆片</a:t>
            </a: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——这就是它"巴住墙"的秘密武器。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12" b="12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6350000" cy="1524000"/>
          </a:xfrm>
          <a:prstGeom prst="roundRect">
            <a:avLst>
              <a:gd name="adj" fmla="val 16666"/>
            </a:avLst>
          </a:prstGeom>
          <a:solidFill>
            <a:srgbClr val="FFFDF7">
              <a:alpha val="94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079500" y="825500"/>
            <a:ext cx="571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97A3C"/>
                </a:solidFill>
                <a:latin typeface="975Maru SC"/>
                <a:ea typeface="975Maru SC"/>
                <a:cs typeface="975Maru SC"/>
                <a:sym typeface="975Maru SC"/>
              </a:rPr>
              <a:t>第四步 · 它是怎么爬的？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079500" y="1206500"/>
            <a:ext cx="571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三步爬墙法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4826000"/>
            <a:ext cx="10668000" cy="1651000"/>
          </a:xfrm>
          <a:prstGeom prst="roundRect">
            <a:avLst>
              <a:gd name="adj" fmla="val 15384"/>
            </a:avLst>
          </a:prstGeom>
          <a:solidFill>
            <a:srgbClr val="FFFDF7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079500" y="5016500"/>
            <a:ext cx="3175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500">
                <a:solidFill>
                  <a:srgbClr val="D97A3C"/>
                </a:solidFill>
                <a:latin typeface="975Maru SC"/>
                <a:ea typeface="975Maru SC"/>
                <a:cs typeface="975Maru SC"/>
                <a:sym typeface="975Maru SC"/>
              </a:rPr>
              <a:t>第一步：巴住</a:t>
            </a:r>
            <a:r>
              <a:rPr lang="en-US" b="false" i="false" strike="noStrike" u="none" sz="15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5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细丝顶端的小圆片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5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紧紧巴住墙面。</a:t>
            </a:r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4445000" y="5016500"/>
            <a:ext cx="3175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500">
                <a:solidFill>
                  <a:srgbClr val="4A8B8B"/>
                </a:solidFill>
                <a:latin typeface="975Maru SC"/>
                <a:ea typeface="975Maru SC"/>
                <a:cs typeface="975Maru SC"/>
                <a:sym typeface="975Maru SC"/>
              </a:rPr>
              <a:t>第二步：拉一把</a:t>
            </a:r>
            <a:r>
              <a:rPr lang="en-US" b="false" i="false" strike="noStrike" u="none" sz="15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5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细丝微微弯曲，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5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把嫩茎往上拉一把。</a:t>
            </a:r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7810500" y="5016500"/>
            <a:ext cx="3429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500">
                <a:solidFill>
                  <a:srgbClr val="2B3A5C"/>
                </a:solidFill>
                <a:latin typeface="975Maru SC"/>
                <a:ea typeface="975Maru SC"/>
                <a:cs typeface="975Maru SC"/>
                <a:sym typeface="975Maru SC"/>
              </a:rPr>
              <a:t>第三步：紧贴</a:t>
            </a:r>
            <a:r>
              <a:rPr lang="en-US" b="false" i="false" strike="noStrike" u="none" sz="15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5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爬山虎就紧贴在墙上，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5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再往上爬一步。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12" b="12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4318000" y="635000"/>
            <a:ext cx="7112000" cy="1651000"/>
          </a:xfrm>
          <a:prstGeom prst="roundRect">
            <a:avLst>
              <a:gd name="adj" fmla="val 15384"/>
            </a:avLst>
          </a:prstGeom>
          <a:solidFill>
            <a:srgbClr val="FFFDF7">
              <a:alpha val="94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4635500" y="863600"/>
            <a:ext cx="647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786450"/>
                </a:solidFill>
                <a:latin typeface="975Maru SC"/>
                <a:ea typeface="975Maru SC"/>
                <a:cs typeface="975Maru SC"/>
                <a:sym typeface="975Maru SC"/>
              </a:rPr>
              <a:t>第五步 · 脚的两种命运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4635500" y="1244600"/>
            <a:ext cx="6477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没触着墙的脚，会怎么样？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4699000"/>
            <a:ext cx="7112000" cy="1778000"/>
          </a:xfrm>
          <a:prstGeom prst="roundRect">
            <a:avLst>
              <a:gd name="adj" fmla="val 14285"/>
            </a:avLst>
          </a:prstGeom>
          <a:solidFill>
            <a:srgbClr val="FFFDF7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079500" y="4927600"/>
            <a:ext cx="6477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600">
                <a:solidFill>
                  <a:srgbClr val="4A8B8B"/>
                </a:solidFill>
                <a:latin typeface="975Maru SC"/>
                <a:ea typeface="975Maru SC"/>
                <a:cs typeface="975Maru SC"/>
                <a:sym typeface="975Maru SC"/>
              </a:rPr>
              <a:t>触着墙的脚</a:t>
            </a: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：变成灰色，紧紧贴在墙上，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就算不加大风，也扒得牢牢的。</a:t>
            </a:r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600">
                <a:solidFill>
                  <a:srgbClr val="A06450"/>
                </a:solidFill>
                <a:latin typeface="975Maru SC"/>
                <a:ea typeface="975Maru SC"/>
                <a:cs typeface="975Maru SC"/>
                <a:sym typeface="975Maru SC"/>
              </a:rPr>
              <a:t>没触着墙的脚</a:t>
            </a: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：几天就萎了，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变成干枯的细丝，最后连痕迹也没留下。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AF6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84200"/>
            <a:ext cx="7620000" cy="381000"/>
          </a:xfrm>
          <a:prstGeom prst="roundRect">
            <a:avLst>
              <a:gd name="adj" fmla="val 0"/>
            </a:avLst>
          </a:prstGeom>
          <a:solidFill>
            <a:srgbClr val="FFF0DC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762000" y="584200"/>
            <a:ext cx="762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97A3C"/>
                </a:solidFill>
                <a:latin typeface="975Maru SC"/>
                <a:ea typeface="975Maru SC"/>
                <a:cs typeface="975Maru SC"/>
                <a:sym typeface="975Maru SC"/>
              </a:rPr>
              <a:t>第六步 · 我们学到了什么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762000" y="1143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B2B2B"/>
                </a:solidFill>
                <a:latin typeface="Long Cang"/>
                <a:ea typeface="Long Cang"/>
                <a:cs typeface="Long Cang"/>
                <a:sym typeface="Long Cang"/>
              </a:rPr>
              <a:t>爬山虎告诉我们的三件事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092" flipH="false" flipV="false">
            <a:off x="762004" y="1974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8B49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 txBox="true"/>
          <p:nvPr/>
        </p:nvSpPr>
        <p:spPr>
          <a:xfrm rot="0" flipH="false" flipV="false">
            <a:off x="1016000" y="2413000"/>
            <a:ext cx="101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5600">
                <a:solidFill>
                  <a:srgbClr val="4A8B8B">
                    <a:alpha val="85098"/>
                  </a:srgbClr>
                </a:solidFill>
                <a:latin typeface="Long Cang"/>
                <a:ea typeface="Long Cang"/>
                <a:cs typeface="Long Cang"/>
                <a:sym typeface="Long Cang"/>
              </a:rPr>
              <a:t>一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2159000" y="2476500"/>
            <a:ext cx="9271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B2B2B"/>
                </a:solidFill>
                <a:latin typeface="975Maru SC"/>
                <a:ea typeface="975Maru SC"/>
                <a:cs typeface="975Maru SC"/>
                <a:sym typeface="975Maru SC"/>
              </a:rPr>
              <a:t>观察要细</a:t>
            </a:r>
            <a:r>
              <a:rPr lang="en-US" b="true" i="false" strike="noStrike" u="none" sz="2000">
                <a:solidFill>
                  <a:srgbClr val="2B2B2B"/>
                </a:solidFill>
                <a:latin typeface="975Maru SC"/>
                <a:ea typeface="975Maru SC"/>
                <a:cs typeface="975Maru SC"/>
                <a:sym typeface="975Maru SC"/>
              </a:rPr>
              <a:t>——连茎上有几根细丝都要数清楚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1016000" y="3619500"/>
            <a:ext cx="101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5600">
                <a:solidFill>
                  <a:srgbClr val="D97A3C">
                    <a:alpha val="85098"/>
                  </a:srgbClr>
                </a:solidFill>
                <a:latin typeface="Long Cang"/>
                <a:ea typeface="Long Cang"/>
                <a:cs typeface="Long Cang"/>
                <a:sym typeface="Long Cang"/>
              </a:rPr>
              <a:t>二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2159000" y="3683000"/>
            <a:ext cx="9271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B2B2B"/>
                </a:solidFill>
                <a:latin typeface="975Maru SC"/>
                <a:ea typeface="975Maru SC"/>
                <a:cs typeface="975Maru SC"/>
                <a:sym typeface="975Maru SC"/>
              </a:rPr>
              <a:t>观察要有顺序</a:t>
            </a:r>
            <a:r>
              <a:rPr lang="en-US" b="true" i="false" strike="noStrike" u="none" sz="2000">
                <a:solidFill>
                  <a:srgbClr val="2B2B2B"/>
                </a:solidFill>
                <a:latin typeface="975Maru SC"/>
                <a:ea typeface="975Maru SC"/>
                <a:cs typeface="975Maru SC"/>
                <a:sym typeface="975Maru SC"/>
              </a:rPr>
              <a:t>——从叶子到脚，再到怎么爬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016000" y="4826000"/>
            <a:ext cx="101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5600">
                <a:solidFill>
                  <a:srgbClr val="2B3A5C">
                    <a:alpha val="85098"/>
                  </a:srgbClr>
                </a:solidFill>
                <a:latin typeface="Long Cang"/>
                <a:ea typeface="Long Cang"/>
                <a:cs typeface="Long Cang"/>
                <a:sym typeface="Long Cang"/>
              </a:rPr>
              <a:t>三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2159000" y="4889500"/>
            <a:ext cx="9271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B2B2B"/>
                </a:solidFill>
                <a:latin typeface="975Maru SC"/>
                <a:ea typeface="975Maru SC"/>
                <a:cs typeface="975Maru SC"/>
                <a:sym typeface="975Maru SC"/>
              </a:rPr>
              <a:t>观察要持续</a:t>
            </a:r>
            <a:r>
              <a:rPr lang="en-US" b="true" i="false" strike="noStrike" u="none" sz="2000">
                <a:solidFill>
                  <a:srgbClr val="2B2B2B"/>
                </a:solidFill>
                <a:latin typeface="975Maru SC"/>
                <a:ea typeface="975Maru SC"/>
                <a:cs typeface="975Maru SC"/>
                <a:sym typeface="975Maru SC"/>
              </a:rPr>
              <a:t>——没触着墙的脚，要等几天才知道结果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12" b="12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2286000" y="1016000"/>
            <a:ext cx="7620000" cy="4826000"/>
          </a:xfrm>
          <a:prstGeom prst="roundRect">
            <a:avLst>
              <a:gd name="adj" fmla="val 6315"/>
            </a:avLst>
          </a:prstGeom>
          <a:solidFill>
            <a:srgbClr val="FFFDF7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2794000" y="1397000"/>
            <a:ext cx="660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D97A3C"/>
                </a:solidFill>
                <a:latin typeface="975Maru SC"/>
                <a:ea typeface="975Maru SC"/>
                <a:cs typeface="975Maru SC"/>
                <a:sym typeface="975Maru SC"/>
              </a:rPr>
              <a:t>课后 · 观察小任务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17188" flipH="false" flipV="false">
            <a:off x="4826016" y="2089150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97A3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 txBox="true"/>
          <p:nvPr/>
        </p:nvSpPr>
        <p:spPr>
          <a:xfrm rot="0" flipH="false" flipV="false">
            <a:off x="2794000" y="2349500"/>
            <a:ext cx="660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1. 熟读并背诵课文。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2794000" y="2984500"/>
            <a:ext cx="660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2. 找一找你身边的爬山虎，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3175000" y="3556000"/>
            <a:ext cx="622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3C3C3C"/>
                </a:solidFill>
                <a:latin typeface="Kaiti SC"/>
                <a:ea typeface="Kaiti SC"/>
                <a:cs typeface="Kaiti SC"/>
                <a:sym typeface="Kaiti SC"/>
              </a:rPr>
              <a:t>用今天学的方法，写一段观察日记。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2794000" y="4381500"/>
            <a:ext cx="6604000" cy="1143000"/>
          </a:xfrm>
          <a:prstGeom prst="roundRect">
            <a:avLst>
              <a:gd name="adj" fmla="val 13333"/>
            </a:avLst>
          </a:prstGeom>
          <a:solidFill>
            <a:srgbClr val="FFF0DC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3048000" y="4572000"/>
            <a:ext cx="6096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784628"/>
                </a:solidFill>
                <a:latin typeface="975Maru SC"/>
                <a:ea typeface="975Maru SC"/>
                <a:cs typeface="975Maru SC"/>
                <a:sym typeface="975Maru SC"/>
              </a:rPr>
              <a:t>观察提示：</a:t>
            </a:r>
            <a:r>
              <a:rPr lang="en-US" b="false" i="false" strike="noStrike" u="none" sz="1400">
                <a:solidFill>
                  <a:srgbClr val="784628"/>
                </a:solidFill>
                <a:latin typeface="975Maru SC"/>
                <a:ea typeface="975Maru SC"/>
                <a:cs typeface="975Maru SC"/>
                <a:sym typeface="975Maru SC"/>
              </a:rPr>
              <a:t>先看整体（叶子什么样），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784628"/>
                </a:solidFill>
                <a:latin typeface="975Maru SC"/>
                <a:ea typeface="975Maru SC"/>
                <a:cs typeface="975Maru SC"/>
                <a:sym typeface="975Maru SC"/>
              </a:rPr>
              <a:t>再看局部（脚长什么样），最后看变化（它怎么爬）。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318250"/>
            <a:ext cx="1524000" cy="539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{"Label":"1","ContentProducer":"001191110102MACQD9K64010000","ProduceID":"7694969238991637746","ReservedCode1":"","ContentPropagator":"","PropagateID":"","ReservedCode2":""}</vt:lpwstr>
  </property>
</Properties>
</file>