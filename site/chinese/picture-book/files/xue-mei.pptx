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冬天快过去了，春天就要来。这时候有两个"小家伙"都想抢着报春——一个是雪，一个是梅花。它们两个谁也不让谁，吵了起来。诗人卢钺看到这个情景，觉得又好笑又有意思，于是写下了这首《雪梅》。今天我们就来看看，雪和梅花到底谁更厉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，这就是卢钺。他特别喜欢梅花，所以给自己起了个号叫"梅坡"。他这首诗写得很有趣——不是单纯地写梅花多美、雪多白，而是让它们两个"吵架"，在比较中告诉我们一个道理：每个人都有自己的长处，也都有自己的短处。这就是这首诗为什么能流传近千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老师读一遍，同学们注意这几个词：降——读xiáng，是"服输、认输"的意思；骚人——就是诗人；评章——就是评议、评论谁好谁坏；逊——是"比不上、差一点"的意思。读完以后我们齐读两遍。这首诗就像一个小小的法庭，梅花和雪在吵架，诗人是法官，要判谁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同学们看这张图——梅花和雪都在春天到来之前出现了，它们都觉得自己才是报春的使者，谁也不肯让谁。诗人用一个"争"字、一个"降"字，把梅花和雪写得像两个吵架的小朋友，特别可爱。这就是拟人手法。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法官开始判了——第一条：论白，梅花比不上雪。为什么？因为雪是纯白的，而梅花是粉红的，带一点颜色。这里的"三分"不是真的量出来三分，只是形容"差了一点点"。这是诗人的第一句判决。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法官的第二句判决来了——但是！论香气，雪比不过梅花。雪虽然白，却没有味道；梅花虽然没有雪白，却有一股淡淡的清香。所以这场"吵架"的结果是：梅花和雪都赢了，也都输了——各有各的长处，也各有各的短处。这就是这首诗要告诉我们的道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我们一起站起来，把这首诗吟诵一遍。这首诗虽然短，却告诉我们一个很重要的道理：每个人都有长处和短处。梅花比不过雪的白，雪比不过梅花的香——它们都赢了，也都输了。我们看人也是一样，不要只看别人的缺点，也要看到别人的优点。课后作业：背诵默写，并且想一想你的同桌有什么优点是你没有的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这张图——诗人本来想写一首诗，把梅花和雪比一比，结果笔拿在手里，却写不下去了。为什么？因为它们两个各有各的好，谁也不比谁差。这就为后面两句埋下了伏笔：诗人到底是怎么判的呢？我们接着往下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8.xml" Type="http://schemas.openxmlformats.org/officeDocument/2006/relationships/notesSlid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5334000" cy="2794000"/>
          </a:xfrm>
          <a:prstGeom prst="roundRect">
            <a:avLst>
              <a:gd name="adj" fmla="val 10909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143000" y="1397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雪 梅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168400" y="2667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C86482"/>
                </a:solidFill>
                <a:latin typeface="975Maru SC"/>
                <a:ea typeface="975Maru SC"/>
                <a:cs typeface="975Maru SC"/>
                <a:sym typeface="975Maru SC"/>
              </a:rPr>
              <a:t>[宋] 卢钺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3227" flipH="false" flipV="false">
            <a:off x="1168421" y="3295650"/>
            <a:ext cx="187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168400" y="34036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975Maru SC"/>
                <a:ea typeface="975Maru SC"/>
                <a:cs typeface="975Maru SC"/>
                <a:sym typeface="975Maru SC"/>
              </a:rPr>
              <a:t>小学语文 · 四年级上册 · 古诗三首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77800" cy="6858000"/>
          </a:xfrm>
          <a:prstGeom prst="roundRect">
            <a:avLst>
              <a:gd name="adj" fmla="val 0"/>
            </a:avLst>
          </a:prstGeom>
          <a:solidFill>
            <a:srgbClr val="C864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635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6482"/>
                </a:solidFill>
                <a:latin typeface="975Maru SC"/>
                <a:ea typeface="975Maru SC"/>
                <a:cs typeface="975Maru SC"/>
                <a:sym typeface="975Maru SC"/>
              </a:rPr>
              <a:t>第一步 · 认识诗人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16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他叫卢钺，又叫卢梅坡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2085" r="2085" t="0" b="0"/>
          <a:stretch>
            <a:fillRect/>
          </a:stretch>
        </p:blipFill>
        <p:spPr>
          <a:xfrm rot="0" flipH="false" flipV="false">
            <a:off x="762000" y="1905000"/>
            <a:ext cx="3556000" cy="469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4826000" y="2032000"/>
            <a:ext cx="660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86482"/>
                </a:solidFill>
                <a:latin typeface="975Maru SC"/>
                <a:ea typeface="975Maru SC"/>
                <a:cs typeface="975Maru SC"/>
                <a:sym typeface="975Maru SC"/>
              </a:rPr>
              <a:t>卢钺（yuè） · 号梅坡 · 宋代诗人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8647" flipH="false" flipV="false">
            <a:off x="4826026" y="2635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4826000" y="2857500"/>
            <a:ext cx="660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他是一位特别喜欢梅花的宋代诗人，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连自己的号都叫"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梅坡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"——梅山旁边的人。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他写的诗不多，但《雪梅》这一首流传了下来。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4699000"/>
            <a:ext cx="6604000" cy="1778000"/>
          </a:xfrm>
          <a:prstGeom prst="roundRect">
            <a:avLst>
              <a:gd name="adj" fmla="val 12857"/>
            </a:avLst>
          </a:prstGeom>
          <a:solidFill>
            <a:srgbClr val="FFE6EE">
              <a:alpha val="90000"/>
            </a:srgbClr>
          </a:solidFill>
          <a:ln w="12700" cmpd="sng" cap="flat">
            <a:solidFill>
              <a:srgbClr val="C86482">
                <a:alpha val="100000"/>
              </a:srgbClr>
            </a:solidFill>
            <a:prstDash val="dot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143500" y="4927600"/>
            <a:ext cx="596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8C3C5A"/>
                </a:solidFill>
                <a:latin typeface="975Maru SC"/>
                <a:ea typeface="975Maru SC"/>
                <a:cs typeface="975Maru SC"/>
                <a:sym typeface="975Maru SC"/>
              </a:rPr>
              <a:t>这首诗特别在哪里：</a:t>
            </a:r>
            <a:r>
              <a:rPr lang="en-US" b="false" i="false" strike="noStrike" u="none" sz="1600">
                <a:solidFill>
                  <a:srgbClr val="8C3C5A"/>
                </a:solidFill>
                <a:latin typeface="975Maru SC"/>
                <a:ea typeface="975Maru SC"/>
                <a:cs typeface="975Maru SC"/>
                <a:sym typeface="975Maru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8C3C5A"/>
                </a:solidFill>
                <a:latin typeface="975Maru SC"/>
                <a:ea typeface="975Maru SC"/>
                <a:cs typeface="975Maru SC"/>
                <a:sym typeface="975Maru SC"/>
              </a:rPr>
              <a:t>它不是单纯写梅花或写雪，而是让它们"吵架"，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8C3C5A"/>
                </a:solidFill>
                <a:latin typeface="975Maru SC"/>
                <a:ea typeface="975Maru SC"/>
                <a:cs typeface="975Maru SC"/>
                <a:sym typeface="975Maru SC"/>
              </a:rPr>
              <a:t>在比较中告诉我们一个道理——每个人都有长处和短处。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842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6482"/>
                </a:solidFill>
                <a:latin typeface="975Maru SC"/>
                <a:ea typeface="975Maru SC"/>
                <a:cs typeface="975Maru SC"/>
                <a:sym typeface="975Maru SC"/>
              </a:rPr>
              <a:t>第二步 · 诵读全诗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9652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先听老师读一遍，注意红色的字词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49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524000" y="21590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3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梅雪争春未肯</a:t>
            </a:r>
            <a:r>
              <a:rPr lang="en-US" b="true" i="false" strike="noStrike" u="none" sz="38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降</a:t>
            </a:r>
            <a:r>
              <a:rPr lang="en-US" b="true" i="false" strike="noStrike" u="none" sz="3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，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524000" y="29845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3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骚人搁笔费</a:t>
            </a:r>
            <a:r>
              <a:rPr lang="en-US" b="true" i="false" strike="noStrike" u="none" sz="38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评章</a:t>
            </a:r>
            <a:r>
              <a:rPr lang="en-US" b="true" i="false" strike="noStrike" u="none" sz="3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524000" y="38100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3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梅须</a:t>
            </a:r>
            <a:r>
              <a:rPr lang="en-US" b="true" i="false" strike="noStrike" u="none" sz="3800">
                <a:solidFill>
                  <a:srgbClr val="4A8B8B"/>
                </a:solidFill>
                <a:latin typeface="Kaiti SC"/>
                <a:ea typeface="Kaiti SC"/>
                <a:cs typeface="Kaiti SC"/>
                <a:sym typeface="Kaiti SC"/>
              </a:rPr>
              <a:t>逊</a:t>
            </a:r>
            <a:r>
              <a:rPr lang="en-US" b="true" i="false" strike="noStrike" u="none" sz="3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雪三分白，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524000" y="46355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3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雪却</a:t>
            </a:r>
            <a:r>
              <a:rPr lang="en-US" b="true" i="false" strike="noStrike" u="none" sz="3800">
                <a:solidFill>
                  <a:srgbClr val="C86482"/>
                </a:solidFill>
                <a:latin typeface="Kaiti SC"/>
                <a:ea typeface="Kaiti SC"/>
                <a:cs typeface="Kaiti SC"/>
                <a:sym typeface="Kaiti SC"/>
              </a:rPr>
              <a:t>输</a:t>
            </a:r>
            <a:r>
              <a:rPr lang="en-US" b="true" i="false" strike="noStrike" u="none" sz="3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梅一段香。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51000" y="5715000"/>
            <a:ext cx="8890000" cy="635000"/>
          </a:xfrm>
          <a:prstGeom prst="roundRect">
            <a:avLst>
              <a:gd name="adj" fmla="val 50000"/>
            </a:avLst>
          </a:prstGeom>
          <a:solidFill>
            <a:srgbClr val="FFE6EE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78000" y="5842000"/>
            <a:ext cx="863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8C3C5A"/>
                </a:solidFill>
                <a:latin typeface="975Maru SC"/>
                <a:ea typeface="975Maru SC"/>
                <a:cs typeface="975Maru SC"/>
                <a:sym typeface="975Maru SC"/>
              </a:rPr>
              <a:t>提示：降（xiáng，服输）· 骚人（诗人）· 评章（评议、评论）· 逊（不及、比不上）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6350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79500" y="990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6482"/>
                </a:solidFill>
                <a:latin typeface="975Maru SC"/>
                <a:ea typeface="975Maru SC"/>
                <a:cs typeface="975Maru SC"/>
                <a:sym typeface="975Maru SC"/>
              </a:rPr>
              <a:t>第三步 · 读第一句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9500" y="13716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梅雪争春未肯降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826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5016500"/>
            <a:ext cx="6477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C86482"/>
                </a:solidFill>
                <a:latin typeface="975Maru SC"/>
                <a:ea typeface="975Maru SC"/>
                <a:cs typeface="975Maru SC"/>
                <a:sym typeface="975Maru SC"/>
              </a:rPr>
              <a:t>争春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：争着向人们报告春天来了。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未肯降（xiáng）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：谁也不肯服输、不肯认输。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梅花说："我先开的！"雪说："我先到的！"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两个小家伙，谁也不让谁。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6350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79500" y="990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第五步 · 读第三句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9500" y="13716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梅须逊雪三分白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4699000"/>
            <a:ext cx="6604000" cy="1778000"/>
          </a:xfrm>
          <a:prstGeom prst="roundRect">
            <a:avLst>
              <a:gd name="adj" fmla="val 14285"/>
            </a:avLst>
          </a:prstGeom>
          <a:solidFill>
            <a:srgbClr val="2B3A5C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143500" y="4927600"/>
            <a:ext cx="596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逊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：比不上、差一点。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三分白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：形容差了一点点（不是真的三分）。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论颜色的洁白，梅花比雪</a:t>
            </a:r>
            <a:r>
              <a:rPr lang="en-US" b="tru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差了一点点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——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因为梅花是粉红色的，雪是纯白色的。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318000" y="635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4635500" y="863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6482"/>
                </a:solidFill>
                <a:latin typeface="975Maru SC"/>
                <a:ea typeface="975Maru SC"/>
                <a:cs typeface="975Maru SC"/>
                <a:sym typeface="975Maru SC"/>
              </a:rPr>
              <a:t>第六步 · 读第四句（诗眼）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35500" y="12446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雪却输梅一段香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699000"/>
            <a:ext cx="7112000" cy="1778000"/>
          </a:xfrm>
          <a:prstGeom prst="roundRect">
            <a:avLst>
              <a:gd name="adj" fmla="val 14285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4927600"/>
            <a:ext cx="647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C86482"/>
                </a:solidFill>
                <a:latin typeface="975Maru SC"/>
                <a:ea typeface="975Maru SC"/>
                <a:cs typeface="975Maru SC"/>
                <a:sym typeface="975Maru SC"/>
              </a:rPr>
              <a:t>输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：比不过、差一点。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C86482"/>
                </a:solidFill>
                <a:latin typeface="975Maru SC"/>
                <a:ea typeface="975Maru SC"/>
                <a:cs typeface="975Maru SC"/>
                <a:sym typeface="975Maru SC"/>
              </a:rPr>
              <a:t>一段香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：一股清香。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论香气，雪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却比不过梅花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——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因为梅花有清香，雪却什么味道都没有。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032000" y="635000"/>
            <a:ext cx="8128000" cy="5588000"/>
          </a:xfrm>
          <a:prstGeom prst="roundRect">
            <a:avLst>
              <a:gd name="adj" fmla="val 545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540000" y="863600"/>
            <a:ext cx="711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86482"/>
                </a:solidFill>
                <a:latin typeface="975Maru SC"/>
                <a:ea typeface="975Maru SC"/>
                <a:cs typeface="975Maru SC"/>
                <a:sym typeface="975Maru SC"/>
              </a:rPr>
              <a:t>最后 · 让我们一起轻声吟诵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2540000" y="1460500"/>
            <a:ext cx="7112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梅雪争春未肯降，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540000" y="2006600"/>
            <a:ext cx="7112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骚人搁笔费评章。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540000" y="2552700"/>
            <a:ext cx="7112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梅须逊雪三分白，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540000" y="3098800"/>
            <a:ext cx="7112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雪却输梅一段香。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7188" flipH="false" flipV="false">
            <a:off x="4826016" y="3867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648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2540000" y="4000500"/>
            <a:ext cx="711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C3C5A"/>
                </a:solidFill>
                <a:latin typeface="975Maru SC"/>
                <a:ea typeface="975Maru SC"/>
                <a:cs typeface="975Maru SC"/>
                <a:sym typeface="975Maru SC"/>
              </a:rPr>
              <a:t>—— [宋] 卢钺 《雪梅》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540000" y="4508500"/>
            <a:ext cx="7112000" cy="1460500"/>
          </a:xfrm>
          <a:prstGeom prst="roundRect">
            <a:avLst>
              <a:gd name="adj" fmla="val 10434"/>
            </a:avLst>
          </a:prstGeom>
          <a:solidFill>
            <a:srgbClr val="FFE6EE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794000" y="4673600"/>
            <a:ext cx="6604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8C3C5A"/>
                </a:solidFill>
                <a:latin typeface="975Maru SC"/>
                <a:ea typeface="975Maru SC"/>
                <a:cs typeface="975Maru SC"/>
                <a:sym typeface="975Maru SC"/>
              </a:rPr>
              <a:t>告诉我们的道理：</a:t>
            </a:r>
            <a:r>
              <a:rPr lang="en-US" b="false" i="false" strike="noStrike" u="none" sz="1400">
                <a:solidFill>
                  <a:srgbClr val="8C3C5A"/>
                </a:solidFill>
                <a:latin typeface="975Maru SC"/>
                <a:ea typeface="975Maru SC"/>
                <a:cs typeface="975Maru SC"/>
                <a:sym typeface="975Maru SC"/>
              </a:rPr>
              <a:t>每个人都有长处和短处，要看到别人的优点，也要看到自己的不足。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8C3C5A"/>
                </a:solidFill>
                <a:latin typeface="975Maru SC"/>
                <a:ea typeface="975Maru SC"/>
                <a:cs typeface="975Maru SC"/>
                <a:sym typeface="975Maru SC"/>
              </a:rPr>
              <a:t>课后作业：</a:t>
            </a:r>
            <a:r>
              <a:rPr lang="en-US" b="false" i="false" strike="noStrike" u="none" sz="1400">
                <a:solidFill>
                  <a:srgbClr val="8C3C5A"/>
                </a:solidFill>
                <a:latin typeface="975Maru SC"/>
                <a:ea typeface="975Maru SC"/>
                <a:cs typeface="975Maru SC"/>
                <a:sym typeface="975Maru SC"/>
              </a:rPr>
              <a:t>背诵默写；想一想你的同桌有什么优点是你没有的，写下来。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318000" y="635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4635500" y="863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第四步 · 读第二句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35500" y="12446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骚人搁笔费评章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572000"/>
            <a:ext cx="7112000" cy="2032000"/>
          </a:xfrm>
          <a:prstGeom prst="roundRect">
            <a:avLst>
              <a:gd name="adj" fmla="val 12500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4800600"/>
            <a:ext cx="6477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骚人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：诗人。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搁笔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：放下笔，写不下去了。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费评章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：要花很多心思才能评判出来。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诗人拿起笔，想评一评谁赢——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结果发现：这还真不好判！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{"Label":"1","ContentProducer":"001191110102MACQD9K64010000","ProduceID":"7694969423803124927","ReservedCode1":"","ContentPropagator":"","PropagateID":"","ReservedCode2":""}</vt:lpwstr>
  </property>
</Properties>
</file>