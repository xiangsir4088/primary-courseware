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请看大屏幕。在一个秋天的傍晚，一位古代诗人站在江边，望着夕阳一点点沉入水中，又望着新月悄悄爬上天空。他被眼前的景色深深打动，写下了一首流传千年的小诗。今天我们就一起走进这首《暮江吟》，去看看诗人白居易到底看到了怎样的美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，这就是白居易。他生活在一千多年前的唐朝，是当时最受欢迎的诗人之一。他的诗有一个最大的特点——通俗易懂，据说连老婆婆都能听懂。为什么呢？因为他每写完一首诗，都会念给不识字的老奶奶听，听不懂就改，直到听懂为止。所以他的诗虽然意思深刻，但语言特别干净朴素。我们今天学的《暮江吟》，就是他在杭州做官时，傍晚在江边散步看到美景后写下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老师先把整首诗读一遍，同学们一边听一边在心里跟着默念。注意听这几个词：铺——不是照，是像毯子一样铺在水面；瑟瑟——本来是一种碧绿色的宝石，这里指没被夕阳照到的江水颜色；可怜——在古诗里是"可爱"的意思，不是现在说的"值得同情"；真珠——就是珍珠。读完以后，我们一起齐读两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读古诗，第一步常常是读懂题目。"暮"下面一个日，太阳落到草丛里，就是傍晚；"江"指的是钱塘江，因为白居易当时在杭州当刺史；"吟"是古代诗歌的一种体裁，比普通的诗更舒缓、更像在轻声歌唱。所以这个题目告诉我们：时间是傍晚，地点是钱塘江边，诗人是在看到美景后随口吟诵出的这首小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这张图——太阳已经很低很低了，几乎贴着水面。为什么诗人用"铺"，而不用"照"或者"射"？因为太阳快要落山时，光是斜的、柔的，像一条金色的毯子平铺在江面上，所以用"铺"这个字，一下子就把那种温暖、平缓、安静的感觉写出来了。这就是练字的妙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这张图，是不是特别神奇？因为太阳只照到江面的一边，所以被照到的那一半是橘红色，没被照到的那一半是碧绿的。"瑟瑟"本来是一种碧绿色的宝石，诗人用它来形容江水的颜色，既准确又优美。一句诗，写出了江面上一半红、一半绿的奇妙景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注意！这里的"可怜"不是我们今天说的"好可怜"，而是"可爱、让人喜爱"的意思。九月初三，是农历的日期，这时候的月亮是什么样子的呢？对，是一弯细细的新月。太阳落山了，夜幕刚刚降临，江边的一切都变得安静、温柔，诗人忍不住赞叹：这夜晚真是太可爱了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句是全诗最美的一句。诗人低下头，看见草叶上的露水在月光下亮晶晶的，像珍珠一样；抬起头，看见天上一弯新月，弯得像一把弓。一低头、一抬头，两个比喻，把夜晚的可爱写得具体、形象、有光泽。同学们闭上眼睛想象一下——草叶上的露珠、天边的弯月，是不是一下子就出现在眼前了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一起来品这两个比喻。露水是透明的、没形状的，但诗人说它像珍珠——圆圆的、白白的、有光泽；新月是安静的、模糊的，但诗人说它像弓——弯弯的、两头尖尖的。好的比喻就是这样：把我们平时不太注意的小东西，一下子写得有形状、有光泽、有生命力。这就是白居易为什么能成为大诗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想一下：从夕阳西下，到新月升起，诗人在江边站了至少一两个小时；从宽阔的江面，到草叶上的一颗小露珠，他看了大风景也看了小细节。为什么他能写出这么美的诗？因为他真的在看、真的在感受、真的喜欢眼前的一切。这首诗没有一点悲伤，全是喜爱——这就是"可怜"两个字真正的分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来做三道小题检验一下学习成果。第一题，补全诗句，考的是大家有没有记住"铺"和"红"这两个字——特别是"铺"，为什么不是"照"？第二题，考的是"可怜"在古诗里的意思，正确答案是B。第三题，考的是两个比喻，露水比作珍珠，新月比作弯弓。课后作业是把诗背下来，并且画一幅你心中的暮江图，下节课我们分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好，同学们，现在让我们一起站起来，看着大屏幕，轻声把这首诗吟诵一遍。注意节奏：一道/残阳/铺水中，半江/瑟瑟/半江红。读完以后，希望大家课后能把它背下来，并且画一幅你心中的暮江图。下课！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12.xml" Type="http://schemas.openxmlformats.org/officeDocument/2006/relationships/notesSlide"/><Relationship Id="rId4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1143000"/>
            <a:ext cx="5334000" cy="2794000"/>
          </a:xfrm>
          <a:prstGeom prst="roundRect">
            <a:avLst>
              <a:gd name="adj" fmla="val 10909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143000" y="15240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暮 江 吟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168400" y="2794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785032"/>
                </a:solidFill>
                <a:latin typeface="975Maru SC"/>
                <a:ea typeface="975Maru SC"/>
                <a:cs typeface="975Maru SC"/>
                <a:sym typeface="975Maru SC"/>
              </a:rPr>
              <a:t>[唐] 白居易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3227" flipH="false" flipV="false">
            <a:off x="1168421" y="3422650"/>
            <a:ext cx="187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97A3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168400" y="35306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5A5A"/>
                </a:solidFill>
                <a:latin typeface="975Maru SC"/>
                <a:ea typeface="975Maru SC"/>
                <a:cs typeface="975Maru SC"/>
                <a:sym typeface="975Maru SC"/>
              </a:rPr>
              <a:t>小学语文 · 四年级上册 · 古诗三首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77800" cy="6858000"/>
          </a:xfrm>
          <a:prstGeom prst="roundRect">
            <a:avLst>
              <a:gd name="adj" fmla="val 0"/>
            </a:avLst>
          </a:prstGeom>
          <a:solidFill>
            <a:srgbClr val="D97A3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635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第一步 · 认识诗人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10160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他叫白居易，字乐天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12244" b="12244"/>
          <a:stretch>
            <a:fillRect/>
          </a:stretch>
        </p:blipFill>
        <p:spPr>
          <a:xfrm rot="0" flipH="false" flipV="false">
            <a:off x="762000" y="1905000"/>
            <a:ext cx="3556000" cy="4699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4826000" y="2032000"/>
            <a:ext cx="660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白居易（772—846） · 号香山居士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8647" flipH="false" flipV="false">
            <a:off x="4826026" y="2635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97A3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4826000" y="2857500"/>
            <a:ext cx="660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唐代伟大的现实主义诗人。他写诗有一个特别的习惯——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每写完一首，就读给不识字的老婆婆听，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老婆婆听不懂，他就回去改，直到她点头说"听懂了"为止。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4699000"/>
            <a:ext cx="6604000" cy="1778000"/>
          </a:xfrm>
          <a:prstGeom prst="roundRect">
            <a:avLst>
              <a:gd name="adj" fmla="val 12857"/>
            </a:avLst>
          </a:prstGeom>
          <a:solidFill>
            <a:srgbClr val="FFF0DC">
              <a:alpha val="90000"/>
            </a:srgbClr>
          </a:solidFill>
          <a:ln w="12700" cmpd="sng" cap="flat">
            <a:solidFill>
              <a:srgbClr val="D97A3C">
                <a:alpha val="100000"/>
              </a:srgbClr>
            </a:solidFill>
            <a:prstDash val="dot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143500" y="4927600"/>
            <a:ext cx="596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代表作：</a:t>
            </a:r>
            <a:r>
              <a:rPr lang="en-US" b="false" i="false" strike="noStrike" u="none" sz="16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《赋得古原草送别》《长恨歌》《琵琶行》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我们今天要学的：</a:t>
            </a:r>
            <a:r>
              <a:rPr lang="en-US" b="false" i="false" strike="noStrike" u="none" sz="16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就是他在钱塘江畔游玩时写下的《暮江吟》。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842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第二步 · 诵读全诗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9652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先听老师读一遍，注意红色的字词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77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49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524000" y="21590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一道残阳</a:t>
            </a:r>
            <a:r>
              <a:rPr lang="en-US" b="true" i="false" strike="noStrike" u="none" sz="4000">
                <a:solidFill>
                  <a:srgbClr val="D97A3C"/>
                </a:solidFill>
                <a:latin typeface="Kaiti SC"/>
                <a:ea typeface="Kaiti SC"/>
                <a:cs typeface="Kaiti SC"/>
                <a:sym typeface="Kaiti SC"/>
              </a:rPr>
              <a:t>铺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水中，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524000" y="29845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半江</a:t>
            </a:r>
            <a:r>
              <a:rPr lang="en-US" b="true" i="false" strike="noStrike" u="none" sz="4000">
                <a:solidFill>
                  <a:srgbClr val="4A8B8B"/>
                </a:solidFill>
                <a:latin typeface="Kaiti SC"/>
                <a:ea typeface="Kaiti SC"/>
                <a:cs typeface="Kaiti SC"/>
                <a:sym typeface="Kaiti SC"/>
              </a:rPr>
              <a:t>瑟瑟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半江红。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524000" y="38100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D97A3C"/>
                </a:solidFill>
                <a:latin typeface="Kaiti SC"/>
                <a:ea typeface="Kaiti SC"/>
                <a:cs typeface="Kaiti SC"/>
                <a:sym typeface="Kaiti SC"/>
              </a:rPr>
              <a:t>可怜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九月初三夜，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524000" y="4635500"/>
            <a:ext cx="914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露似</a:t>
            </a:r>
            <a:r>
              <a:rPr lang="en-US" b="true" i="false" strike="noStrike" u="none" sz="4000">
                <a:solidFill>
                  <a:srgbClr val="D97A3C"/>
                </a:solidFill>
                <a:latin typeface="Kaiti SC"/>
                <a:ea typeface="Kaiti SC"/>
                <a:cs typeface="Kaiti SC"/>
                <a:sym typeface="Kaiti SC"/>
              </a:rPr>
              <a:t>真珠</a:t>
            </a:r>
            <a:r>
              <a:rPr lang="en-US" b="true" i="false" strike="noStrike" u="none" sz="4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月似弓。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159000" y="5715000"/>
            <a:ext cx="7874000" cy="635000"/>
          </a:xfrm>
          <a:prstGeom prst="roundRect">
            <a:avLst>
              <a:gd name="adj" fmla="val 50000"/>
            </a:avLst>
          </a:prstGeom>
          <a:solidFill>
            <a:srgbClr val="FFF0DC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286000" y="5842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提示：吟（yín） · 瑟瑟（sè sè） · 可怜（可爱的意思） · 真珠（珍珠）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842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第三步 · 读懂题目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9652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"暮江吟"三个字，分别是什么意思？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89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49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413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D97A3C"/>
                </a:solidFill>
                <a:latin typeface="Kaiti SC"/>
                <a:ea typeface="Kaiti SC"/>
                <a:cs typeface="Kaiti SC"/>
                <a:sym typeface="Kaiti SC"/>
              </a:rPr>
              <a:t>暮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406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傍晚、太阳落山的时候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508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975Maru SC"/>
                <a:ea typeface="975Maru SC"/>
                <a:cs typeface="975Maru SC"/>
                <a:sym typeface="975Maru SC"/>
              </a:rPr>
              <a:t>"暮"字下面一个"日"，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975Maru SC"/>
                <a:ea typeface="975Maru SC"/>
                <a:cs typeface="975Maru SC"/>
                <a:sym typeface="975Maru SC"/>
              </a:rPr>
              <a:t>太阳落在草丛里，就是傍晚。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826000" y="2413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4A8B8B"/>
                </a:solidFill>
                <a:latin typeface="Kaiti SC"/>
                <a:ea typeface="Kaiti SC"/>
                <a:cs typeface="Kaiti SC"/>
                <a:sym typeface="Kaiti SC"/>
              </a:rPr>
              <a:t>江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826000" y="406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这里指钱塘江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4826000" y="4508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975Maru SC"/>
                <a:ea typeface="975Maru SC"/>
                <a:cs typeface="975Maru SC"/>
                <a:sym typeface="975Maru SC"/>
              </a:rPr>
              <a:t>当时白居易在杭州做官，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975Maru SC"/>
                <a:ea typeface="975Maru SC"/>
                <a:cs typeface="975Maru SC"/>
                <a:sym typeface="975Maru SC"/>
              </a:rPr>
              <a:t>看到的就是钱塘江。</a:t>
            </a: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636000" y="2413000"/>
            <a:ext cx="254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2B3A5C"/>
                </a:solidFill>
                <a:latin typeface="Kaiti SC"/>
                <a:ea typeface="Kaiti SC"/>
                <a:cs typeface="Kaiti SC"/>
                <a:sym typeface="Kaiti SC"/>
              </a:rPr>
              <a:t>吟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636000" y="406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古代诗歌的一种体裁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636000" y="4508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975Maru SC"/>
                <a:ea typeface="975Maru SC"/>
                <a:cs typeface="975Maru SC"/>
                <a:sym typeface="975Maru SC"/>
              </a:rPr>
              <a:t>"吟"就是轻轻地吟诵、歌唱，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975Maru SC"/>
                <a:ea typeface="975Maru SC"/>
                <a:cs typeface="975Maru SC"/>
                <a:sym typeface="975Maru SC"/>
              </a:rPr>
              <a:t>语气比较舒缓。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5715000"/>
            <a:ext cx="9144000" cy="698500"/>
          </a:xfrm>
          <a:prstGeom prst="roundRect">
            <a:avLst>
              <a:gd name="adj" fmla="val 49090"/>
            </a:avLst>
          </a:prstGeom>
          <a:solidFill>
            <a:srgbClr val="4A8B8B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778000" y="5867400"/>
            <a:ext cx="863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2B3A5C"/>
                </a:solidFill>
                <a:latin typeface="975Maru SC"/>
                <a:ea typeface="975Maru SC"/>
                <a:cs typeface="975Maru SC"/>
                <a:sym typeface="975Maru SC"/>
              </a:rPr>
              <a:t>连起来就是：</a:t>
            </a:r>
            <a:r>
              <a:rPr lang="en-US" b="true" i="false" strike="noStrike" u="none" sz="1700">
                <a:solidFill>
                  <a:srgbClr val="2B3A5C"/>
                </a:solidFill>
                <a:latin typeface="975Maru SC"/>
                <a:ea typeface="975Maru SC"/>
                <a:cs typeface="975Maru SC"/>
                <a:sym typeface="975Maru SC"/>
              </a:rPr>
              <a:t>傍晚，在钱塘江边，诗人把眼前的美景轻轻吟诵成一首诗。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6350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79500" y="990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第四步 · 读第一句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79500" y="13716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一道残阳铺水中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826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5016500"/>
            <a:ext cx="6477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残阳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：快要落山的太阳。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铺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：夕阳斜斜地照过来，阳光像一层薄薄的金色绸缎，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平平地铺在水面上，而不是直直地照下来。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318000" y="635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4635500" y="8636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第五步 · 读第二句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35500" y="1244600"/>
            <a:ext cx="647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半江瑟瑟半江红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826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5016500"/>
            <a:ext cx="6477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瑟瑟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：本来是碧绿色的宝石，这里指没被夕阳照到的江水，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呈现出深青碧绿的颜色。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被阳光照到的那一半是红彤彤的，没照到的那一半是碧绿的——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一条江，竟然同时有两种颜色！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6350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79500" y="990600"/>
            <a:ext cx="571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第六步 · 读第三句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79500" y="13716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可怜九月初三夜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4699000"/>
            <a:ext cx="6604000" cy="1778000"/>
          </a:xfrm>
          <a:prstGeom prst="roundRect">
            <a:avLst>
              <a:gd name="adj" fmla="val 14285"/>
            </a:avLst>
          </a:prstGeom>
          <a:solidFill>
            <a:srgbClr val="2B3A5C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5143500" y="4927600"/>
            <a:ext cx="596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FFDC96"/>
                </a:solidFill>
                <a:latin typeface="975Maru SC"/>
                <a:ea typeface="975Maru SC"/>
                <a:cs typeface="975Maru SC"/>
                <a:sym typeface="975Maru SC"/>
              </a:rPr>
              <a:t>可怜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：在古诗里是"可爱、惹人喜爱"的意思，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不是现在"值得同情"的意思。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FFDC96"/>
                </a:solidFill>
                <a:latin typeface="975Maru SC"/>
                <a:ea typeface="975Maru SC"/>
                <a:cs typeface="975Maru SC"/>
                <a:sym typeface="975Maru SC"/>
              </a:rPr>
              <a:t>九月初三</a:t>
            </a: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：农历的日期，这个时候月亮刚刚出来，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FFF5E6"/>
                </a:solidFill>
                <a:latin typeface="975Maru SC"/>
                <a:ea typeface="975Maru SC"/>
                <a:cs typeface="975Maru SC"/>
                <a:sym typeface="975Maru SC"/>
              </a:rPr>
              <a:t>是一弯细细的新月。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318000" y="635000"/>
            <a:ext cx="7112000" cy="1651000"/>
          </a:xfrm>
          <a:prstGeom prst="roundRect">
            <a:avLst>
              <a:gd name="adj" fmla="val 15384"/>
            </a:avLst>
          </a:prstGeom>
          <a:solidFill>
            <a:srgbClr val="FFFDF7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4635500" y="8636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C864"/>
                </a:solidFill>
                <a:latin typeface="975Maru SC"/>
                <a:ea typeface="975Maru SC"/>
                <a:cs typeface="975Maru SC"/>
                <a:sym typeface="975Maru SC"/>
              </a:rPr>
              <a:t>第七步 · 读第四句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4635500" y="1244600"/>
            <a:ext cx="647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露似真珠月似弓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699000"/>
            <a:ext cx="7112000" cy="1778000"/>
          </a:xfrm>
          <a:prstGeom prst="roundRect">
            <a:avLst>
              <a:gd name="adj" fmla="val 14285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79500" y="4927600"/>
            <a:ext cx="647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诗人在这一句里用了两个</a:t>
            </a:r>
            <a:r>
              <a:rPr lang="en-US" b="true" i="false" strike="noStrike" u="none" sz="16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绝妙的比喻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——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草叶上的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露水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，像一颗颗圆圆的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珍珠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；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天上的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新月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，像一张弯弯的</a:t>
            </a:r>
            <a:r>
              <a:rPr lang="en-US" b="tru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弓箭</a:t>
            </a: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。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一低头、一抬头，都是美景。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77800" cy="6858000"/>
          </a:xfrm>
          <a:prstGeom prst="roundRect">
            <a:avLst>
              <a:gd name="adj" fmla="val 0"/>
            </a:avLst>
          </a:prstGeom>
          <a:solidFill>
            <a:srgbClr val="4A8B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5842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A8B8B"/>
                </a:solidFill>
                <a:latin typeface="975Maru SC"/>
                <a:ea typeface="975Maru SC"/>
                <a:cs typeface="975Maru SC"/>
                <a:sym typeface="975Maru SC"/>
              </a:rPr>
              <a:t>第八步 · 品析诗句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62000" y="9652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两个比喻，为什么是神来之笔？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1847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49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16000" y="2159000"/>
            <a:ext cx="3683000" cy="368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5207000" y="2286000"/>
            <a:ext cx="6223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露水 → 珍珠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207000" y="2768600"/>
            <a:ext cx="622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露水本来是透明的、普通的，诗人说它像珍珠——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一下子就有了圆润的形状、洁白的光泽、珍贵的感觉。</a:t>
            </a:r>
          </a:p>
        </p:txBody>
      </p:sp>
      <p:cxnSp>
        <p:nvCxnSpPr>
          <p:cNvPr name="Connector 9" id="9"/>
          <p:cNvCxnSpPr/>
          <p:nvPr/>
        </p:nvCxnSpPr>
        <p:spPr>
          <a:xfrm rot="-7314" flipH="false" flipV="false">
            <a:off x="5207007" y="3740150"/>
            <a:ext cx="596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C8AA">
                <a:alpha val="100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5207000" y="3937000"/>
            <a:ext cx="6223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3A5C"/>
                </a:solidFill>
                <a:latin typeface="975Maru SC"/>
                <a:ea typeface="975Maru SC"/>
                <a:cs typeface="975Maru SC"/>
                <a:sym typeface="975Maru SC"/>
              </a:rPr>
              <a:t>新月 → 弯弓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207000" y="4419600"/>
            <a:ext cx="622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月亮本来是安静的，诗人说它像弓——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3C3C3C"/>
                </a:solidFill>
                <a:latin typeface="975Maru SC"/>
                <a:ea typeface="975Maru SC"/>
                <a:cs typeface="975Maru SC"/>
                <a:sym typeface="975Maru SC"/>
              </a:rPr>
              <a:t>一下子就有了弯弯的形状、两端尖尖的轮廓，还带着一点力量感。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207000" y="5461000"/>
            <a:ext cx="6223000" cy="762000"/>
          </a:xfrm>
          <a:prstGeom prst="roundRect">
            <a:avLst>
              <a:gd name="adj" fmla="val 20000"/>
            </a:avLst>
          </a:prstGeom>
          <a:solidFill>
            <a:srgbClr val="D97A3C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461000" y="5613400"/>
            <a:ext cx="571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妙处：</a:t>
            </a:r>
            <a:r>
              <a:rPr lang="en-US" b="false" i="false" strike="noStrike" u="none" sz="15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把不起眼的小东西，写出了光彩和形状。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842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第九步 · 体会情感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9652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诗人为什么觉得这夜晚"可爱"？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847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49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D97A3C">
                    <a:alpha val="85098"/>
                  </a:srgbClr>
                </a:solidFill>
                <a:latin typeface="Long Cang"/>
                <a:ea typeface="Long Cang"/>
                <a:cs typeface="Long Cang"/>
                <a:sym typeface="Long Cang"/>
              </a:rPr>
              <a:t>一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159000" y="2349500"/>
            <a:ext cx="927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时间在悄悄流动</a:t>
            </a: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——从残阳到新月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159000" y="2794000"/>
            <a:ext cx="927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A5A5A"/>
                </a:solidFill>
                <a:latin typeface="975Maru SC"/>
                <a:ea typeface="975Maru SC"/>
                <a:cs typeface="975Maru SC"/>
                <a:sym typeface="975Maru SC"/>
              </a:rPr>
              <a:t>前两句写傍晚的夕阳，后两句写初三的新月——诗人在江边站了很久，从日落到月出。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6195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4A8B8B">
                    <a:alpha val="85098"/>
                  </a:srgbClr>
                </a:solidFill>
                <a:latin typeface="Long Cang"/>
                <a:ea typeface="Long Cang"/>
                <a:cs typeface="Long Cang"/>
                <a:sym typeface="Long Cang"/>
              </a:rPr>
              <a:t>二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159000" y="3683000"/>
            <a:ext cx="927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视线在细细打量</a:t>
            </a: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——从江面到草叶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159000" y="4127500"/>
            <a:ext cx="927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A5A5A"/>
                </a:solidFill>
                <a:latin typeface="975Maru SC"/>
                <a:ea typeface="975Maru SC"/>
                <a:cs typeface="975Maru SC"/>
                <a:sym typeface="975Maru SC"/>
              </a:rPr>
              <a:t>先看宽阔的江水，再低头看草叶上的露珠——大风景和小细节，他都没放过。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49530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2B3A5C">
                    <a:alpha val="85098"/>
                  </a:srgbClr>
                </a:solidFill>
                <a:latin typeface="Long Cang"/>
                <a:ea typeface="Long Cang"/>
                <a:cs typeface="Long Cang"/>
                <a:sym typeface="Long Cang"/>
              </a:rPr>
              <a:t>三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159000" y="5016500"/>
            <a:ext cx="927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心里在悄悄欢喜</a:t>
            </a:r>
            <a:r>
              <a:rPr lang="en-US" b="true" i="false" strike="noStrike" u="none" sz="20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——对自然、对生活的爱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2159000" y="5461000"/>
            <a:ext cx="9271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A5A5A"/>
                </a:solidFill>
                <a:latin typeface="975Maru SC"/>
                <a:ea typeface="975Maru SC"/>
                <a:cs typeface="975Maru SC"/>
                <a:sym typeface="975Maru SC"/>
              </a:rPr>
              <a:t>没有悲伤，没有抱怨——只有一个热爱生活的人，被眼前的美景深深打动。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6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62000" y="5842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第十步 · 课堂练习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762000" y="9652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Long Cang"/>
                <a:ea typeface="Long Cang"/>
                <a:cs typeface="Long Cang"/>
                <a:sym typeface="Long Cang"/>
              </a:rPr>
              <a:t>小试身手，你学会了吗？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847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49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D97A3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62000" y="21590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524000" y="21844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请把诗句补充完整：一道残阳____水中，半江瑟瑟半江____。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111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4A8B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62000" y="3111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524000" y="30480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"可怜九月初三夜"中"可怜"的意思是（　　）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778000" y="3530600"/>
            <a:ext cx="990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A5A5A"/>
                </a:solidFill>
                <a:latin typeface="975Maru SC"/>
                <a:ea typeface="975Maru SC"/>
                <a:cs typeface="975Maru SC"/>
                <a:sym typeface="975Maru SC"/>
              </a:rPr>
              <a:t>A. 值得同情　　　B. 可爱、惹人喜爱　　　C. 可惜、遗憾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3815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2B3A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62000" y="4381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975Maru SC"/>
                <a:ea typeface="975Maru SC"/>
                <a:cs typeface="975Maru SC"/>
                <a:sym typeface="975Maru SC"/>
              </a:rPr>
              <a:t>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24000" y="43180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2B2B2B"/>
                </a:solidFill>
                <a:latin typeface="975Maru SC"/>
                <a:ea typeface="975Maru SC"/>
                <a:cs typeface="975Maru SC"/>
                <a:sym typeface="975Maru SC"/>
              </a:rPr>
              <a:t>诗人用了两个比喻：把____比作珍珠，把____比作弯弓。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oundRect">
            <a:avLst>
              <a:gd name="adj" fmla="val 17500"/>
            </a:avLst>
          </a:prstGeom>
          <a:solidFill>
            <a:srgbClr val="FFF0DC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079500" y="5524500"/>
            <a:ext cx="10160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参考答案：</a:t>
            </a:r>
            <a:r>
              <a:rPr lang="en-US" b="false" i="false" strike="noStrike" u="none" sz="15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第1题——铺 / 红；第2题——B（可爱）；第3题——露水 / 新月。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课后作业：把这首诗背诵下来，并且画一幅你心中的"暮江图"，下节课我们一起分享。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3A5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1016000"/>
            <a:ext cx="7620000" cy="4826000"/>
          </a:xfrm>
          <a:prstGeom prst="roundRect">
            <a:avLst>
              <a:gd name="adj" fmla="val 6315"/>
            </a:avLst>
          </a:prstGeom>
          <a:solidFill>
            <a:srgbClr val="FFFDF7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794000" y="1333500"/>
            <a:ext cx="660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D97A3C"/>
                </a:solidFill>
                <a:latin typeface="975Maru SC"/>
                <a:ea typeface="975Maru SC"/>
                <a:cs typeface="975Maru SC"/>
                <a:sym typeface="975Maru SC"/>
              </a:rPr>
              <a:t>最后，让我们一起轻声吟诵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2794000" y="2032000"/>
            <a:ext cx="660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一道残阳铺水中，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794000" y="2667000"/>
            <a:ext cx="660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半江瑟瑟半江红。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794000" y="3302000"/>
            <a:ext cx="660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可怜九月初三夜，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794000" y="3937000"/>
            <a:ext cx="660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露似真珠月似弓。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7188" flipH="false" flipV="false">
            <a:off x="4826016" y="4883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7A3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 txBox="true"/>
          <p:nvPr/>
        </p:nvSpPr>
        <p:spPr>
          <a:xfrm rot="0" flipH="false" flipV="false">
            <a:off x="2794000" y="5080000"/>
            <a:ext cx="660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84628"/>
                </a:solidFill>
                <a:latin typeface="975Maru SC"/>
                <a:ea typeface="975Maru SC"/>
                <a:cs typeface="975Maru SC"/>
                <a:sym typeface="975Maru SC"/>
              </a:rPr>
              <a:t>—— [唐] 白居易 《暮江吟》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{"Label":"1","ContentProducer":"001191110102MACQD9K64010000","ProduceID":"7694969431403547842","ReservedCode1":"","ContentPropagator":"","PropagateID":"","ReservedCode2":""}</vt:lpwstr>
  </property>
</Properties>
</file>